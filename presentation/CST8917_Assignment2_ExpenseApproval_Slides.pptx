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10"/>
  </p:normalViewPr>
  <p:slideViewPr>
    <p:cSldViewPr snapToGrid="0" snapToObjects="1">
      <p:cViewPr>
        <p:scale>
          <a:sx n="104" d="100"/>
          <a:sy n="104" d="100"/>
        </p:scale>
        <p:origin x="80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Logic Apps + connectors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100/day</c:v>
                </c:pt>
                <c:pt idx="1">
                  <c:v>10,000/day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172.4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87-4626-8D97-FCAFBCCFC4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Durable Functions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100/day</c:v>
                </c:pt>
                <c:pt idx="1">
                  <c:v>10,000/day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87-4626-8D97-FCAFBCCFC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79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621791"/>
            <a:ext cx="3571702" cy="502919"/>
          </a:xfrm>
          <a:prstGeom prst="roundRect">
            <a:avLst>
              <a:gd name="adj" fmla="val 22222"/>
            </a:avLst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 sz="2800"/>
          </a:p>
        </p:txBody>
      </p:sp>
      <p:sp>
        <p:nvSpPr>
          <p:cNvPr id="4" name="Text 2"/>
          <p:cNvSpPr/>
          <p:nvPr/>
        </p:nvSpPr>
        <p:spPr>
          <a:xfrm>
            <a:off x="1167799" y="735998"/>
            <a:ext cx="2517509" cy="23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CST8917 · Serverless Applications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4904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 Approval Workflow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DD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Functions vs Logic Apps + Service Bus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C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&amp; Contrast · Dual Implementation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2801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6F2FF"/>
          </a:solidFill>
          <a:ln w="12700">
            <a:solidFill>
              <a:srgbClr val="3C7D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799832" y="14081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99832" y="1719072"/>
            <a:ext cx="30540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Code-first orchestration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Durable Functions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635240" y="27432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9F7F0"/>
          </a:solidFill>
          <a:ln w="12700">
            <a:solidFill>
              <a:srgbClr val="55A87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7799832" y="287121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B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99832" y="3182112"/>
            <a:ext cx="30540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Visual/declarative workflow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Apps + Service Bus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690187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9D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Jingjing Duan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Introduction: same business workflow, two implementations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</a:rPr>
              <a:t>Business rules and required outcomes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E6F2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0467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10512" y="2386584"/>
            <a:ext cx="265176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214884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31343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+ category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2386584"/>
            <a:ext cx="265176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65760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82219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2386584"/>
            <a:ext cx="265176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516636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E9F7F0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33095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36792" y="2386584"/>
            <a:ext cx="265176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67512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FFF4D6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83971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45552" y="2386584"/>
            <a:ext cx="265176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818388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FFE8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834847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54312" y="2386584"/>
            <a:ext cx="265176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9692640" y="1965960"/>
            <a:ext cx="1161288" cy="841248"/>
          </a:xfrm>
          <a:prstGeom prst="roundRect">
            <a:avLst>
              <a:gd name="adj" fmla="val 8696"/>
            </a:avLst>
          </a:prstGeom>
          <a:solidFill>
            <a:srgbClr val="E6F2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857232" y="230640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77240" y="413308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813816" y="420166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$100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59152" y="4178808"/>
            <a:ext cx="3931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automatically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463600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813816" y="470458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 or more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59152" y="4681728"/>
            <a:ext cx="3931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manager approval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7240" y="513892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813816" y="520750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response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359152" y="5184648"/>
            <a:ext cx="3931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Auto-approved + escalated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5641848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813816" y="571042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input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59152" y="5687568"/>
            <a:ext cx="3931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error / rejected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629400" y="4078224"/>
            <a:ext cx="4754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versions pass the same six scenarios: auto-approve, manager approve, manager reject, timeout/escalated, missing field, invalid category.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629400" y="5102352"/>
            <a:ext cx="4754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comparison based on implementation experience, not different business behavior.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A: Durable Functions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Code-first orchestration with Human Interaction pattern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E6F2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50392" y="1728216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0392" y="2039112"/>
            <a:ext cx="11795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/api/expenses/start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999232" y="172821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99232" y="2039112"/>
            <a:ext cx="1362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Stateful control flow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9F7F0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376672" y="172821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76672" y="2039112"/>
            <a:ext cx="14996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· process · notify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772400" y="160020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4D6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936992" y="172821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API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36992" y="2039112"/>
            <a:ext cx="14081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external event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10012680" y="1600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E8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0177272" y="172821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Timer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177272" y="2039112"/>
            <a:ext cx="13624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 → escalated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2240280" y="2039112"/>
            <a:ext cx="54864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526280" y="2039112"/>
            <a:ext cx="64008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7086600" y="2039112"/>
            <a:ext cx="64008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9555480" y="2039112"/>
            <a:ext cx="41148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3657600" y="2606040"/>
            <a:ext cx="0" cy="1280160"/>
          </a:xfrm>
          <a:prstGeom prst="line">
            <a:avLst/>
          </a:prstGeom>
          <a:noFill/>
          <a:ln w="2540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2377440" y="397764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3C7D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2542032" y="410565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first completed task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542032" y="4416552"/>
            <a:ext cx="27797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event OR durable timer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5532120" y="4370832"/>
            <a:ext cx="114300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6812280" y="3977640"/>
            <a:ext cx="3794760" cy="786384"/>
          </a:xfrm>
          <a:prstGeom prst="roundRect">
            <a:avLst>
              <a:gd name="adj" fmla="val 9302"/>
            </a:avLst>
          </a:prstGeom>
          <a:solidFill>
            <a:srgbClr val="E6F2FF"/>
          </a:solidFill>
          <a:ln w="12700">
            <a:solidFill>
              <a:srgbClr val="3C7D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976872" y="4105656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status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976872" y="4416552"/>
            <a:ext cx="34655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· rejected · escalated · validation_error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77240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decision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40" y="5596128"/>
            <a:ext cx="9784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Functions was a natural fit because the orchestrator can wait without consuming compute and resumes when the event or timer completes.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A demo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Six scenarios verified through test-durable.http and orchestration status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9829800" cy="32004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 status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 under $100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Auto-approved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$100 + manager approve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by manager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$100 + manager reject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Rejected by manager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$100 + no response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Auto-approved + escalated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field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validation_error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Rejected by validation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Invalid category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validation_error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Rejected by validation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58952" y="5321808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demo shows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orchestration status endpoint provides the instance ID, runtime status, input, output, and final notification object. This made local testing repeatable.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B: Logic Apps + Service Bus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Visual/declarative workflow with custom manager interaction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E6F2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04672" y="136245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 Queue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673352"/>
            <a:ext cx="14538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expense-requests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788920" y="1234440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953512" y="136245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53512" y="1673352"/>
            <a:ext cx="14538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 branches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9F7F0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102352" y="136245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Function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02352" y="1673352"/>
            <a:ext cx="1682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fields + category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315200" y="123444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FFF4D6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479792" y="136245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Outlook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79792" y="1673352"/>
            <a:ext cx="16367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+ manager emails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646920" y="1234440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E8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811512" y="136245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Topic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811512" y="1673352"/>
            <a:ext cx="14996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subscriptions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2423160" y="1609344"/>
            <a:ext cx="32004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572000" y="1609344"/>
            <a:ext cx="32004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6949440" y="1609344"/>
            <a:ext cx="32004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9281160" y="1609344"/>
            <a:ext cx="32004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3886200" y="2999232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050792" y="31272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Table Storage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050792" y="3438144"/>
            <a:ext cx="20939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manager decision by requestId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995160" y="2999232"/>
            <a:ext cx="2423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159752" y="31272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links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159752" y="3438144"/>
            <a:ext cx="209397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/approve or /reject endpoints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7498080" y="2011680"/>
            <a:ext cx="0" cy="96012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6995160" y="3383280"/>
            <a:ext cx="0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858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filters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77240" y="5010912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E9F7F0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941832" y="513892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approved-sub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41832" y="5449824"/>
            <a:ext cx="264261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= 'approved'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434840" y="5010912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FE8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599432" y="513892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rejected-sub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599432" y="5449824"/>
            <a:ext cx="264261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= 'rejected'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092440" y="5010912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FF4D6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8257032" y="513892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escalated-sub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257032" y="5449824"/>
            <a:ext cx="264261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= 'escalated'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B manager approval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Practical workaround for Logic Apps human interaction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0607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Apps does not provide the same external-event model as Durable Functions, so I used a simple approval window.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90472" y="2423160"/>
            <a:ext cx="1115568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67512" y="29718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requestId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 creates a unique ID for the expense request.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0" y="2148840"/>
            <a:ext cx="548640" cy="548640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108960" y="2267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30752" y="2423160"/>
            <a:ext cx="1115568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907792" y="29718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manager email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31012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contains Approve and Reject links.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2148840"/>
            <a:ext cx="548640" cy="548640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349240" y="2267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71032" y="2423160"/>
            <a:ext cx="1115568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148072" y="29718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decision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1012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Function stores the clicked decision in Table Storage.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89520" y="2148840"/>
            <a:ext cx="548640" cy="548640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7589520" y="2267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11312" y="2423160"/>
            <a:ext cx="1115568" cy="0"/>
          </a:xfrm>
          <a:prstGeom prst="line">
            <a:avLst/>
          </a:prstGeom>
          <a:noFill/>
          <a:ln w="22860">
            <a:solidFill>
              <a:srgbClr val="1D75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7388352" y="29718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+ lookup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331012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 waits, then checks the saved decision.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29800" y="2148840"/>
            <a:ext cx="548640" cy="548640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9829800" y="2267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28632" y="29718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outcome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0" y="3310128"/>
            <a:ext cx="1417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/ reject / pending → final email + topic message.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" y="4892040"/>
            <a:ext cx="10652760" cy="18288"/>
          </a:xfrm>
          <a:prstGeom prst="rect">
            <a:avLst/>
          </a:prstGeom>
          <a:solidFill>
            <a:srgbClr val="D5DE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822960" y="525780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514600" y="5193792"/>
            <a:ext cx="8549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workaround worked, but it used more components: Logic App + email links + Azure Functions + Table Storage + delay. That made setup and debugging more complex than the Durable Functions version.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across the six dimensions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Key findings from implementation and testing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70432"/>
          <a:ext cx="11109960" cy="371246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Dimension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Durable Functions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Logic Apps + Service Bus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Development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Centralized code; more initial concepts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Visual branches; more connector/config friction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Testability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local testing with .http + Azurite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test depends on Azure resources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Error handling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Programmatic control, retries, history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Run-after/retries are visible but distributed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Human interaction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Natural: external event + timer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Custom: email links + Function + Table Storage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Observability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endpoint + logs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visual run history and branch evidence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Likely lower at high volume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paid actions/connectors at scale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7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line: Durable Functions fits the stateful approval logic better; Logic Apps is stronger for visual monitoring and connector-based workflows.</a:t>
            </a:r>
            <a:endParaRPr lang="en-US" sz="1500" dirty="0"/>
          </a:p>
        </p:txBody>
      </p:sp>
      <p:sp>
        <p:nvSpPr>
          <p:cNvPr id="6" name="Text 5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and cost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Production choice based on workflow fit, testability, and volume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6F2FF"/>
          </a:solidFill>
          <a:ln w="12700">
            <a:solidFill>
              <a:srgbClr val="3C7D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941832" y="1362456"/>
            <a:ext cx="3602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for production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1832" y="1673352"/>
            <a:ext cx="36027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Durable Functions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640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2688" y="2798064"/>
            <a:ext cx="128016" cy="128016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170432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Interaction pattern is native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227832"/>
            <a:ext cx="128016" cy="128016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170432" y="3154680"/>
            <a:ext cx="3977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and timeout stay in one orchestrator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3657600"/>
            <a:ext cx="128016" cy="128016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1170432" y="3584448"/>
            <a:ext cx="3977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local testing and code 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4087368"/>
            <a:ext cx="128016" cy="128016"/>
          </a:xfrm>
          <a:prstGeom prst="ellipse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1170432" y="4014216"/>
            <a:ext cx="3977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lower cost at higher volume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93776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E9F7F0"/>
          </a:solidFill>
          <a:ln w="12700">
            <a:solidFill>
              <a:srgbClr val="55A87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41832" y="5065776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Logic Apps when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41832" y="5376672"/>
            <a:ext cx="44256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Connector-heavy integration matters more than code control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44652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 monthly usage view</a:t>
            </a:r>
            <a:endParaRPr lang="en-US" sz="17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446520" y="1691640"/>
          <a:ext cx="48463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6446520" y="5074920"/>
            <a:ext cx="4937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estimates are approximate and depend on selected region, connector count, runtime duration, and actual workflow path. README includes assumptions and references.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What surprised me and what I would improve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896112" y="136245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surprised 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1673352"/>
            <a:ext cx="30540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workflows still need careful debugging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E6F2FF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690872" y="136245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useful evidence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90872" y="1673352"/>
            <a:ext cx="30540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App Run History shows exact branch execution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E8E8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485632" y="136245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Biggest technical issue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85632" y="1673352"/>
            <a:ext cx="27797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 body encoding + HTTP body handling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 built it again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566160"/>
            <a:ext cx="109728" cy="109728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1188720" y="3493008"/>
            <a:ext cx="98755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Durable Functions for approval state and timeout if the workflow is code-owned.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4069080"/>
            <a:ext cx="109728" cy="109728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188720" y="3995928"/>
            <a:ext cx="98755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Logic Apps when business teams need visual evidence and standard connectors.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14400" y="4572000"/>
            <a:ext cx="109728" cy="109728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188720" y="4498848"/>
            <a:ext cx="98755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automated integration tests earlier instead of testing each portal path manually.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" y="5074920"/>
            <a:ext cx="109728" cy="109728"/>
          </a:xfrm>
          <a:prstGeom prst="rect">
            <a:avLst/>
          </a:prstGeom>
          <a:solidFill>
            <a:srgbClr val="1D75C1"/>
          </a:solidFill>
          <a:ln w="12700">
            <a:solidFill>
              <a:srgbClr val="1D75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1188720" y="5001768"/>
            <a:ext cx="98755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workflow definitions in source control to avoid losing unsaved Designer changes.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715000"/>
            <a:ext cx="23774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7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demo plan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5715000"/>
            <a:ext cx="74066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Version A status endpoint, then show Version B run history, emails, and topic subscriptions.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502920" y="650138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CST8917 Assignment 2 · Expense Approval Workflow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02568" y="6455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954</Words>
  <Application>Microsoft Office PowerPoint</Application>
  <PresentationFormat>Widescreen</PresentationFormat>
  <Paragraphs>208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Algonquin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Approval Workflow — Durable Functions vs Logic Apps</dc:title>
  <dc:subject>CST8917 Assignment 2</dc:subject>
  <dc:creator>Jingjing Duan</dc:creator>
  <cp:lastModifiedBy>Jingjing Duan</cp:lastModifiedBy>
  <cp:revision>2</cp:revision>
  <dcterms:created xsi:type="dcterms:W3CDTF">2026-08-15T15:13:12Z</dcterms:created>
  <dcterms:modified xsi:type="dcterms:W3CDTF">2026-08-16T02:24:03Z</dcterms:modified>
</cp:coreProperties>
</file>